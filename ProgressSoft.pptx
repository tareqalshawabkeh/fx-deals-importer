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2"/>
  </p:notesMasterIdLst>
  <p:handoutMasterIdLst>
    <p:handoutMasterId r:id="rId23"/>
  </p:handoutMasterIdLst>
  <p:sldIdLst>
    <p:sldId id="334" r:id="rId5"/>
    <p:sldId id="337" r:id="rId6"/>
    <p:sldId id="351" r:id="rId7"/>
    <p:sldId id="316" r:id="rId8"/>
    <p:sldId id="352" r:id="rId9"/>
    <p:sldId id="353" r:id="rId10"/>
    <p:sldId id="350" r:id="rId11"/>
    <p:sldId id="356" r:id="rId12"/>
    <p:sldId id="342" r:id="rId13"/>
    <p:sldId id="343" r:id="rId14"/>
    <p:sldId id="354" r:id="rId15"/>
    <p:sldId id="336" r:id="rId16"/>
    <p:sldId id="324" r:id="rId17"/>
    <p:sldId id="346" r:id="rId18"/>
    <p:sldId id="328" r:id="rId19"/>
    <p:sldId id="345" r:id="rId20"/>
    <p:sldId id="34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>
        <p:scale>
          <a:sx n="66" d="100"/>
          <a:sy n="66" d="100"/>
        </p:scale>
        <p:origin x="234" y="12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AF97-2CAF-6B0D-39A9-BE765332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D344D-C3E4-4874-8653-D01253580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B2B0D-34AC-44D0-30F4-0009618DE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F89EF-9A8F-4768-C177-3589C78DB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94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82B3C-4F1D-33ED-5B59-E7328A5B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E57EE-F362-C7E6-3086-DC86BB51D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BF89C-7B07-760C-462B-A9F7007FA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CD567-64D4-D3CD-2339-955B3001D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390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084E-6012-AA25-5920-98523B09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047E5-DA53-46F3-8E8F-7BB0061C2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ABAD8-3630-AFF4-7773-F4DEFF106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FCB6D-E42E-2B16-9140-063B554B4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799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51CD-7136-2D83-E3E6-B0C752BE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EAE59-AA99-F39E-C179-FD58A83BA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07F79-C68B-783D-39D6-AB4351B97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BDF57-3445-EF0E-AF95-022426628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974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A2B5-42AC-2FBE-E2F0-FE275BE6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F9496-1A52-E2EF-A7CB-970AD06DC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69409-471D-21FB-9EE4-275D9F129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87495-5411-7267-30B7-C31DE5B04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262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F2FB-44DC-3643-DDD1-DBD88408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1D826-C2CE-0FD8-4B7F-D55BD3042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44F78-F190-CEC0-C8C4-A6BC3BEA6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DE4C7-273D-6721-88A5-E1D5327C2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888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FX Deals Importer Using Spring Boot</a:t>
            </a:r>
            <a:br>
              <a:rPr lang="en-US" dirty="0"/>
            </a:br>
            <a:endParaRPr lang="en-US" dirty="0"/>
          </a:p>
        </p:txBody>
      </p:sp>
      <p:pic>
        <p:nvPicPr>
          <p:cNvPr id="12290" name="Picture 2" descr="‪Forex - Free business and finance icons‬‏">
            <a:extLst>
              <a:ext uri="{FF2B5EF4-FFF2-40B4-BE49-F238E27FC236}">
                <a16:creationId xmlns:a16="http://schemas.microsoft.com/office/drawing/2014/main" id="{6D926E8C-657F-E6BB-D202-CA957ECAE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8573" y="0"/>
            <a:ext cx="2566535" cy="256653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‪Forex icon vector image can be used for investing | Premium Vector‬‏">
            <a:extLst>
              <a:ext uri="{FF2B5EF4-FFF2-40B4-BE49-F238E27FC236}">
                <a16:creationId xmlns:a16="http://schemas.microsoft.com/office/drawing/2014/main" id="{C0EDC191-84A5-5783-939C-F0D38A318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313" y="3020393"/>
            <a:ext cx="4020459" cy="34797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25DE527-A411-FCBD-D3D4-39FD36FA27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" r="23"/>
          <a:stretch>
            <a:fillRect/>
          </a:stretch>
        </p:blipFill>
        <p:spPr>
          <a:xfrm>
            <a:off x="8527430" y="243188"/>
            <a:ext cx="3521337" cy="3521344"/>
          </a:xfrm>
          <a:prstGeom prst="round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E968EA-0679-D17E-A1FA-03960F55F529}"/>
              </a:ext>
            </a:extLst>
          </p:cNvPr>
          <p:cNvSpPr txBox="1"/>
          <p:nvPr/>
        </p:nvSpPr>
        <p:spPr>
          <a:xfrm>
            <a:off x="8253005" y="4248683"/>
            <a:ext cx="4303223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Spring Boot REST API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FX deals ingestion &amp; validation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PostgreSQL database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Dockerized</a:t>
            </a:r>
            <a:r>
              <a:rPr lang="en-US" altLang="en-US" b="1" dirty="0">
                <a:latin typeface="Arial" panose="020B0604020202020204" pitchFamily="34" charset="0"/>
              </a:rPr>
              <a:t> deployment</a:t>
            </a: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546D0-44F3-D72F-2366-14A29F205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060" y="382333"/>
            <a:ext cx="6083878" cy="47933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BD592D-06F2-93BC-37A4-608C26F44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2973" y="4612058"/>
            <a:ext cx="3510965" cy="5636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F2DA424-F6EA-3686-D966-47F6245C0676}"/>
              </a:ext>
            </a:extLst>
          </p:cNvPr>
          <p:cNvSpPr txBox="1"/>
          <p:nvPr/>
        </p:nvSpPr>
        <p:spPr>
          <a:xfrm>
            <a:off x="1209254" y="5306280"/>
            <a:ext cx="4886746" cy="1290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Layered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DTOs separate API from database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Clean, maintainable design</a:t>
            </a:r>
          </a:p>
        </p:txBody>
      </p:sp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4B38-23EF-AC4F-4F97-A2C625BB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6CB4336-1FEB-0C84-F393-36C930009D0F}"/>
              </a:ext>
            </a:extLst>
          </p:cNvPr>
          <p:cNvSpPr txBox="1"/>
          <p:nvPr/>
        </p:nvSpPr>
        <p:spPr>
          <a:xfrm>
            <a:off x="457569" y="4136794"/>
            <a:ext cx="43032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Java 21 + Spring Boot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NetBeans for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PostgreSQL database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Docker containerization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Postman for testing( POST, GET and Upload .csv </a:t>
            </a:r>
            <a:r>
              <a:rPr lang="en-US" b="1" dirty="0" err="1">
                <a:solidFill>
                  <a:srgbClr val="FFC000"/>
                </a:solidFill>
              </a:rPr>
              <a:t>fils</a:t>
            </a:r>
            <a:r>
              <a:rPr lang="en-US" b="1" dirty="0">
                <a:solidFill>
                  <a:srgbClr val="FFC000"/>
                </a:solidFill>
              </a:rPr>
              <a:t>).</a:t>
            </a:r>
          </a:p>
        </p:txBody>
      </p:sp>
      <p:pic>
        <p:nvPicPr>
          <p:cNvPr id="3074" name="Picture 2" descr="‪5 steps to configure PostgreSQL in Docker to a Java/Spring app‬‏">
            <a:extLst>
              <a:ext uri="{FF2B5EF4-FFF2-40B4-BE49-F238E27FC236}">
                <a16:creationId xmlns:a16="http://schemas.microsoft.com/office/drawing/2014/main" id="{52A22B4D-B072-EC47-2B7F-6FF6C4B00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32" y="468024"/>
            <a:ext cx="6741920" cy="2372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575526-9A3E-BBBE-05E5-A7ED1E3BE8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152"/>
          <a:stretch>
            <a:fillRect/>
          </a:stretch>
        </p:blipFill>
        <p:spPr>
          <a:xfrm>
            <a:off x="4801927" y="1759527"/>
            <a:ext cx="3451078" cy="10806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5B204D3-BB72-5E79-B7DC-B3E3B95B54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23" r="23"/>
          <a:stretch>
            <a:fillRect/>
          </a:stretch>
        </p:blipFill>
        <p:spPr>
          <a:xfrm>
            <a:off x="8926588" y="284843"/>
            <a:ext cx="2738512" cy="2738517"/>
          </a:xfrm>
          <a:prstGeom prst="roundRect">
            <a:avLst/>
          </a:prstGeom>
        </p:spPr>
      </p:pic>
      <p:pic>
        <p:nvPicPr>
          <p:cNvPr id="3076" name="Picture 4" descr="‪Why I Don't Use Postman Anymore…. From 100 clicks to 10 lines of code… | by  Kiran Maan | Python in Plain English‬‏">
            <a:extLst>
              <a:ext uri="{FF2B5EF4-FFF2-40B4-BE49-F238E27FC236}">
                <a16:creationId xmlns:a16="http://schemas.microsoft.com/office/drawing/2014/main" id="{18E8277E-5AE3-DB8D-09D5-18EFB72D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516" y="3023360"/>
            <a:ext cx="3028950" cy="148243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3AB6FA8-048D-6B45-71F2-23567B65D7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549" y="4817910"/>
            <a:ext cx="4134427" cy="1648055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78C5C73-DD76-31B6-E8D1-D6CFB5EC83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549" y="4175760"/>
            <a:ext cx="3695700" cy="47625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88343E-1459-5DEF-38B4-562B86992389}"/>
              </a:ext>
            </a:extLst>
          </p:cNvPr>
          <p:cNvCxnSpPr>
            <a:cxnSpLocks/>
          </p:cNvCxnSpPr>
          <p:nvPr/>
        </p:nvCxnSpPr>
        <p:spPr>
          <a:xfrm>
            <a:off x="6474779" y="3095466"/>
            <a:ext cx="4161470" cy="1080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BE9F27-3F01-70C4-F655-C7112039CDA1}"/>
              </a:ext>
            </a:extLst>
          </p:cNvPr>
          <p:cNvCxnSpPr>
            <a:cxnSpLocks/>
          </p:cNvCxnSpPr>
          <p:nvPr/>
        </p:nvCxnSpPr>
        <p:spPr>
          <a:xfrm>
            <a:off x="3613373" y="4505797"/>
            <a:ext cx="3327176" cy="1884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FF8C63-1DEF-C19A-C020-DC2D8DE2218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607743" y="4544763"/>
            <a:ext cx="2332806" cy="109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9F5A97-D09B-785E-899D-EA2AA1EB6AB8}"/>
              </a:ext>
            </a:extLst>
          </p:cNvPr>
          <p:cNvCxnSpPr>
            <a:cxnSpLocks/>
          </p:cNvCxnSpPr>
          <p:nvPr/>
        </p:nvCxnSpPr>
        <p:spPr>
          <a:xfrm>
            <a:off x="6210565" y="4505797"/>
            <a:ext cx="729984" cy="369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C9BE99-A0AB-1B1E-C42C-C9E1A6E9C37B}"/>
              </a:ext>
            </a:extLst>
          </p:cNvPr>
          <p:cNvCxnSpPr>
            <a:cxnSpLocks/>
          </p:cNvCxnSpPr>
          <p:nvPr/>
        </p:nvCxnSpPr>
        <p:spPr>
          <a:xfrm>
            <a:off x="6501511" y="3440838"/>
            <a:ext cx="2628634" cy="7349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270CF8-4819-D919-16C3-932774524CEE}"/>
              </a:ext>
            </a:extLst>
          </p:cNvPr>
          <p:cNvCxnSpPr>
            <a:cxnSpLocks/>
          </p:cNvCxnSpPr>
          <p:nvPr/>
        </p:nvCxnSpPr>
        <p:spPr>
          <a:xfrm>
            <a:off x="6527466" y="4046424"/>
            <a:ext cx="413083" cy="211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10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24099" y="5030639"/>
            <a:ext cx="5918068" cy="2518646"/>
          </a:xfrm>
        </p:spPr>
        <p:txBody>
          <a:bodyPr/>
          <a:lstStyle/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Unique </a:t>
            </a:r>
            <a:r>
              <a:rPr lang="en-US" altLang="en-US" sz="2000" dirty="0" err="1">
                <a:solidFill>
                  <a:srgbClr val="C00000"/>
                </a:solidFill>
                <a:latin typeface="Arial Unicode MS"/>
              </a:rPr>
              <a:t>dealId</a:t>
            </a:r>
            <a:endParaRPr lang="en-US" altLang="en-US" sz="2800" dirty="0">
              <a:solidFill>
                <a:srgbClr val="C00000"/>
              </a:solidFill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ISO currency codes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Financial precision using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BigDecimal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Timestamped transactions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790A57-88C3-C3E6-6DF2-180A490EF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41" y="568038"/>
            <a:ext cx="9620364" cy="43220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8452908-1EFA-AE7D-B7FF-8A50D0BC9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77" y="5390857"/>
            <a:ext cx="3497169" cy="5117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9CC3D4B-C570-BE00-327E-D051EB813C6E}"/>
              </a:ext>
            </a:extLst>
          </p:cNvPr>
          <p:cNvSpPr txBox="1"/>
          <p:nvPr/>
        </p:nvSpPr>
        <p:spPr>
          <a:xfrm>
            <a:off x="7016770" y="175497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PostgreSQL table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DCFB8E-BF51-489C-9182-8DE0938151A0}"/>
              </a:ext>
            </a:extLst>
          </p:cNvPr>
          <p:cNvSpPr txBox="1"/>
          <p:nvPr/>
        </p:nvSpPr>
        <p:spPr>
          <a:xfrm>
            <a:off x="8136077" y="4905416"/>
            <a:ext cx="2825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 err="1">
                <a:solidFill>
                  <a:srgbClr val="FF0000"/>
                </a:solidFill>
                <a:latin typeface="Amasis MT Pro Medium" panose="02040604050005020304" pitchFamily="18" charset="0"/>
              </a:rPr>
              <a:t>FxDeal</a:t>
            </a:r>
            <a:r>
              <a:rPr lang="en-US" sz="2800" b="1" i="1" dirty="0">
                <a:solidFill>
                  <a:srgbClr val="FF0000"/>
                </a:solidFill>
                <a:latin typeface="Amasis MT Pro Medium" panose="02040604050005020304" pitchFamily="18" charset="0"/>
              </a:rPr>
              <a:t> entity</a:t>
            </a:r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FE0E-73DE-C97B-5347-8AB82278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2DA4E-3529-E690-B740-56BAE351C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31584" y="4401594"/>
            <a:ext cx="6810089" cy="3144965"/>
          </a:xfrm>
        </p:spPr>
        <p:txBody>
          <a:bodyPr/>
          <a:lstStyle/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POST /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fx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-deals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GET /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fx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-deals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Pagination support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CSV upload endpoint 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( my additional feature) 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A0E8B4-E378-31BB-319A-69481856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23" y="607296"/>
            <a:ext cx="7517274" cy="3838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590F48-F8FB-E26F-A38F-9D53D0851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973" y="2068617"/>
            <a:ext cx="4274099" cy="394759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400C6C-5829-3D09-FBDB-0851CA59EAEA}"/>
              </a:ext>
            </a:extLst>
          </p:cNvPr>
          <p:cNvCxnSpPr>
            <a:cxnSpLocks/>
          </p:cNvCxnSpPr>
          <p:nvPr/>
        </p:nvCxnSpPr>
        <p:spPr>
          <a:xfrm flipV="1">
            <a:off x="5638800" y="2244436"/>
            <a:ext cx="1891173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355DFB3-A773-0807-2F74-B210AFE2C072}"/>
              </a:ext>
            </a:extLst>
          </p:cNvPr>
          <p:cNvCxnSpPr>
            <a:cxnSpLocks/>
          </p:cNvCxnSpPr>
          <p:nvPr/>
        </p:nvCxnSpPr>
        <p:spPr>
          <a:xfrm>
            <a:off x="4294909" y="4446270"/>
            <a:ext cx="3235064" cy="1569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26901F6-5543-0906-7303-6E3DF658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8254" y="361400"/>
            <a:ext cx="3223892" cy="979131"/>
          </a:xfrm>
        </p:spPr>
        <p:txBody>
          <a:bodyPr/>
          <a:lstStyle/>
          <a:p>
            <a:r>
              <a:rPr lang="en-US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REST API Endpoints</a:t>
            </a:r>
            <a:endParaRPr lang="en-US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0759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0BFAA-F131-8197-1948-F6EFBA32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9323-0218-2CD1-40DD-1EAB6331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49" y="504538"/>
            <a:ext cx="6555182" cy="1326019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Create FX Deal (POST)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latin typeface="Aharoni" panose="020F0502020204030204" pitchFamily="2" charset="-79"/>
                <a:cs typeface="Aharoni" panose="020F0502020204030204" pitchFamily="2" charset="-79"/>
              </a:rPr>
              <a:t>POSTMaN</a:t>
            </a:r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1119D-5EC1-316F-782E-0A9D759AE4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549" y="2713661"/>
            <a:ext cx="5918068" cy="314496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Postman POST request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(JSON body)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Success response </a:t>
            </a:r>
            <a:r>
              <a:rPr lang="en-US" b="1" dirty="0">
                <a:solidFill>
                  <a:srgbClr val="00B050"/>
                </a:solidFill>
              </a:rPr>
              <a:t>(201 Created)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JSON-based input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Validation applied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Duplicate prevention</a:t>
            </a:r>
          </a:p>
        </p:txBody>
      </p:sp>
      <p:pic>
        <p:nvPicPr>
          <p:cNvPr id="10" name="Picture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849180-21DD-F83C-43E2-5EBE6DCF1CA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4476" t="54859" r="24476"/>
          <a:stretch>
            <a:fillRect/>
          </a:stretch>
        </p:blipFill>
        <p:spPr>
          <a:xfrm>
            <a:off x="5279235" y="4286143"/>
            <a:ext cx="6702433" cy="2458524"/>
          </a:xfrm>
          <a:prstGeom prst="roundRect">
            <a:avLst/>
          </a:prstGeom>
        </p:spPr>
      </p:pic>
      <p:pic>
        <p:nvPicPr>
          <p:cNvPr id="1026" name="Picture 2" descr="‪Postman's got a new look | Postman Blog‬‏">
            <a:extLst>
              <a:ext uri="{FF2B5EF4-FFF2-40B4-BE49-F238E27FC236}">
                <a16:creationId xmlns:a16="http://schemas.microsoft.com/office/drawing/2014/main" id="{9E5200F4-1A3C-DC40-5EB0-63091E8233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6" t="20465" r="7958" b="24935"/>
          <a:stretch>
            <a:fillRect/>
          </a:stretch>
        </p:blipFill>
        <p:spPr bwMode="auto">
          <a:xfrm>
            <a:off x="8422240" y="282256"/>
            <a:ext cx="3006436" cy="132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B9C0DE-3C82-D8EA-CEA4-09C78A29B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96" t="220" r="25642" b="45021"/>
          <a:stretch>
            <a:fillRect/>
          </a:stretch>
        </p:blipFill>
        <p:spPr>
          <a:xfrm>
            <a:off x="6577003" y="1803176"/>
            <a:ext cx="5404665" cy="238551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7261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28870-2115-1E91-C2B5-D7242FB2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0429-3860-A1CB-4C37-5F79C61F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7" y="736430"/>
            <a:ext cx="7524743" cy="717973"/>
          </a:xfrm>
        </p:spPr>
        <p:txBody>
          <a:bodyPr/>
          <a:lstStyle/>
          <a:p>
            <a:pPr algn="l"/>
            <a:r>
              <a:rPr lang="en-US" dirty="0" err="1">
                <a:latin typeface="Aharoni" panose="020F0502020204030204" pitchFamily="2" charset="-79"/>
                <a:cs typeface="Aharoni" panose="020F0502020204030204" pitchFamily="2" charset="-79"/>
              </a:rPr>
              <a:t>POSTMaN</a:t>
            </a:r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  <a:r>
              <a:rPr lang="es-ES" dirty="0"/>
              <a:t>error response (409 </a:t>
            </a:r>
            <a:r>
              <a:rPr lang="es-ES" dirty="0" err="1"/>
              <a:t>Conflict</a:t>
            </a:r>
            <a:r>
              <a:rPr lang="es-ES" dirty="0"/>
              <a:t>)</a:t>
            </a:r>
            <a:endParaRPr lang="en-US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C93AA-2398-7992-FF42-0D24116999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6216" y="2897919"/>
            <a:ext cx="5629984" cy="3144965"/>
          </a:xfrm>
        </p:spPr>
        <p:txBody>
          <a:bodyPr>
            <a:normAutofit lnSpcReduction="10000"/>
          </a:bodyPr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Duplicate deal detection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Currency mismatch validation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Global exception handling</a:t>
            </a: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</a:rPr>
              <a:t>(</a:t>
            </a:r>
            <a:r>
              <a:rPr lang="en-US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N</a:t>
            </a:r>
            <a:r>
              <a:rPr lang="en-US" sz="1800" b="1" dirty="0">
                <a:solidFill>
                  <a:srgbClr val="C00000"/>
                </a:solidFill>
              </a:rPr>
              <a:t>ot added) Rejected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Because same the previous ID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Also, check when have the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same currency, to be reject.</a:t>
            </a: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‪Postman's got a new look | Postman Blog‬‏">
            <a:extLst>
              <a:ext uri="{FF2B5EF4-FFF2-40B4-BE49-F238E27FC236}">
                <a16:creationId xmlns:a16="http://schemas.microsoft.com/office/drawing/2014/main" id="{A0622693-427E-398D-8A88-CCAD8EF04C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6" t="20465" r="7958" b="24935"/>
          <a:stretch>
            <a:fillRect/>
          </a:stretch>
        </p:blipFill>
        <p:spPr bwMode="auto">
          <a:xfrm>
            <a:off x="9059549" y="343508"/>
            <a:ext cx="3006436" cy="132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615F3A-7F60-1829-3B71-5DBDCAAE76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353"/>
          <a:stretch>
            <a:fillRect/>
          </a:stretch>
        </p:blipFill>
        <p:spPr>
          <a:xfrm>
            <a:off x="4265726" y="1872727"/>
            <a:ext cx="7800259" cy="2496074"/>
          </a:xfrm>
          <a:prstGeom prst="round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0990F5-7CFE-230E-9DB8-F71E5AE662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029"/>
          <a:stretch>
            <a:fillRect/>
          </a:stretch>
        </p:blipFill>
        <p:spPr>
          <a:xfrm>
            <a:off x="4164125" y="4572002"/>
            <a:ext cx="7800259" cy="194249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4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5FBB-74F3-D1DF-EE2E-3BDF4755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41EC-20D9-EEED-55A5-732EDDF9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7" y="736430"/>
            <a:ext cx="7524743" cy="717973"/>
          </a:xfrm>
        </p:spPr>
        <p:txBody>
          <a:bodyPr/>
          <a:lstStyle/>
          <a:p>
            <a:pPr algn="l"/>
            <a:r>
              <a:rPr lang="en-US" dirty="0" err="1">
                <a:latin typeface="Aharoni" panose="020F0502020204030204" pitchFamily="2" charset="-79"/>
                <a:cs typeface="Aharoni" panose="020F0502020204030204" pitchFamily="2" charset="-79"/>
              </a:rPr>
              <a:t>POSTMaN</a:t>
            </a:r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  <a:r>
              <a:rPr lang="es-ES" dirty="0"/>
              <a:t>error response (409 </a:t>
            </a:r>
            <a:r>
              <a:rPr lang="es-ES" dirty="0" err="1"/>
              <a:t>Conflict</a:t>
            </a:r>
            <a:r>
              <a:rPr lang="es-ES" dirty="0"/>
              <a:t>)</a:t>
            </a:r>
            <a:endParaRPr lang="en-US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04AB2-3D12-2730-2EB8-CDAA59BD99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6216" y="2897919"/>
            <a:ext cx="5629984" cy="3144965"/>
          </a:xfrm>
        </p:spPr>
        <p:txBody>
          <a:bodyPr>
            <a:normAutofit/>
          </a:bodyPr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Duplicate deal detection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Currency mismatch validation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Global exception handling</a:t>
            </a: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rgbClr val="C00000"/>
                </a:solidFill>
              </a:rPr>
              <a:t>(</a:t>
            </a:r>
            <a:r>
              <a:rPr lang="en-US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N</a:t>
            </a:r>
            <a:r>
              <a:rPr lang="en-US" sz="1800" b="1" dirty="0">
                <a:solidFill>
                  <a:srgbClr val="C00000"/>
                </a:solidFill>
              </a:rPr>
              <a:t>ot added) Rejected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Invalid Currency Combination</a:t>
            </a:r>
            <a:endParaRPr lang="en-US" sz="2000" dirty="0">
              <a:solidFill>
                <a:schemeClr val="tx1"/>
              </a:solidFill>
            </a:endParaRPr>
          </a:p>
          <a:p>
            <a:pPr lvl="0" algn="l"/>
            <a:r>
              <a:rPr lang="en-US" sz="1800" b="1" dirty="0" err="1">
                <a:solidFill>
                  <a:srgbClr val="C00000"/>
                </a:solidFill>
              </a:rPr>
              <a:t>fromCurrency</a:t>
            </a:r>
            <a:r>
              <a:rPr lang="en-US" sz="1800" b="1" dirty="0">
                <a:solidFill>
                  <a:srgbClr val="C00000"/>
                </a:solidFill>
              </a:rPr>
              <a:t> equals </a:t>
            </a:r>
            <a:r>
              <a:rPr lang="en-US" sz="1800" b="1" dirty="0" err="1">
                <a:solidFill>
                  <a:srgbClr val="C00000"/>
                </a:solidFill>
              </a:rPr>
              <a:t>toCurrency</a:t>
            </a:r>
            <a:endParaRPr lang="en-US" sz="1800" b="1" dirty="0">
              <a:solidFill>
                <a:srgbClr val="C00000"/>
              </a:solidFill>
            </a:endParaRPr>
          </a:p>
          <a:p>
            <a:pPr algn="l"/>
            <a:endParaRPr lang="en-US" sz="1800" b="1" dirty="0">
              <a:solidFill>
                <a:srgbClr val="C00000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‪Postman's got a new look | Postman Blog‬‏">
            <a:extLst>
              <a:ext uri="{FF2B5EF4-FFF2-40B4-BE49-F238E27FC236}">
                <a16:creationId xmlns:a16="http://schemas.microsoft.com/office/drawing/2014/main" id="{4CB9D453-79E9-EF87-AA3F-3EAF27054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6" t="20465" r="7958" b="24935"/>
          <a:stretch>
            <a:fillRect/>
          </a:stretch>
        </p:blipFill>
        <p:spPr bwMode="auto">
          <a:xfrm>
            <a:off x="9059549" y="128385"/>
            <a:ext cx="3006436" cy="132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3A76A-E05C-4678-2A4C-B0BB78BEF9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268"/>
          <a:stretch>
            <a:fillRect/>
          </a:stretch>
        </p:blipFill>
        <p:spPr>
          <a:xfrm>
            <a:off x="4360323" y="1674673"/>
            <a:ext cx="7910286" cy="2611013"/>
          </a:xfrm>
          <a:prstGeom prst="round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A3D67-30EF-0A18-954B-17B649A803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345"/>
          <a:stretch>
            <a:fillRect/>
          </a:stretch>
        </p:blipFill>
        <p:spPr>
          <a:xfrm>
            <a:off x="4477862" y="4285686"/>
            <a:ext cx="7675209" cy="2235822"/>
          </a:xfrm>
          <a:prstGeom prst="round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9B254A3-6F25-3F80-D7FF-51138B177A60}"/>
              </a:ext>
            </a:extLst>
          </p:cNvPr>
          <p:cNvSpPr/>
          <p:nvPr/>
        </p:nvSpPr>
        <p:spPr>
          <a:xfrm>
            <a:off x="5820229" y="3135086"/>
            <a:ext cx="986971" cy="566057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59F7A1-55A6-A3CC-72CB-3EF8D67A01EC}"/>
              </a:ext>
            </a:extLst>
          </p:cNvPr>
          <p:cNvCxnSpPr>
            <a:endCxn id="7" idx="3"/>
          </p:cNvCxnSpPr>
          <p:nvPr/>
        </p:nvCxnSpPr>
        <p:spPr>
          <a:xfrm flipV="1">
            <a:off x="3643086" y="3618246"/>
            <a:ext cx="2321682" cy="12730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9F1C7DB-229A-F458-2EF2-63B479EEAE01}"/>
              </a:ext>
            </a:extLst>
          </p:cNvPr>
          <p:cNvCxnSpPr>
            <a:cxnSpLocks/>
          </p:cNvCxnSpPr>
          <p:nvPr/>
        </p:nvCxnSpPr>
        <p:spPr>
          <a:xfrm flipV="1">
            <a:off x="4477862" y="5729202"/>
            <a:ext cx="921452" cy="1791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732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56" y="-640080"/>
            <a:ext cx="10099964" cy="1280160"/>
          </a:xfrm>
        </p:spPr>
        <p:txBody>
          <a:bodyPr/>
          <a:lstStyle/>
          <a:p>
            <a:r>
              <a:rPr lang="en-US" dirty="0"/>
              <a:t>.CSV Upload Feature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56" y="4096006"/>
            <a:ext cx="10724436" cy="213904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Excel CSV file (above created .csv)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Postman upload request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i="1" dirty="0">
                <a:solidFill>
                  <a:srgbClr val="00B050"/>
                </a:solidFill>
                <a:latin typeface="Arial" panose="020B0604020202020204" pitchFamily="34" charset="0"/>
              </a:rPr>
              <a:t>“CSV uploaded successfully” response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i="1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Bulk FX deal ingestion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Skips duplicates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Supports real Excel-generated CSV</a:t>
            </a:r>
            <a:endParaRPr lang="en-US" altLang="en-US" b="1" i="1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b="1" dirty="0"/>
              <a:t>Expected CSV Columns: </a:t>
            </a:r>
            <a:r>
              <a:rPr lang="en-US" b="1" dirty="0" err="1">
                <a:solidFill>
                  <a:srgbClr val="C00000"/>
                </a:solidFill>
              </a:rPr>
              <a:t>dealId</a:t>
            </a:r>
            <a:r>
              <a:rPr lang="en-US" b="1" dirty="0">
                <a:solidFill>
                  <a:srgbClr val="C00000"/>
                </a:solidFill>
              </a:rPr>
              <a:t> ,</a:t>
            </a:r>
            <a:r>
              <a:rPr lang="en-US" b="1" dirty="0" err="1">
                <a:solidFill>
                  <a:srgbClr val="C00000"/>
                </a:solidFill>
              </a:rPr>
              <a:t>fromCurrency,toCurrency,amount,dealTimestamp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E1075BFD-9AFF-B356-449D-A1B679303194}"/>
              </a:ext>
            </a:extLst>
          </p:cNvPr>
          <p:cNvSpPr txBox="1">
            <a:spLocks/>
          </p:cNvSpPr>
          <p:nvPr/>
        </p:nvSpPr>
        <p:spPr>
          <a:xfrm>
            <a:off x="1316456" y="3366932"/>
            <a:ext cx="10099964" cy="12801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 cap="all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B2C9BA-BB2E-5557-D8FC-7DBA81FAF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44" t="2336" r="-139" b="39986"/>
          <a:stretch>
            <a:fillRect/>
          </a:stretch>
        </p:blipFill>
        <p:spPr>
          <a:xfrm>
            <a:off x="4694145" y="840882"/>
            <a:ext cx="7180355" cy="2321429"/>
          </a:xfrm>
          <a:prstGeom prst="round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0B9F53-8105-AF58-A350-D62D1108C1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98" t="65917" r="26562" b="974"/>
          <a:stretch>
            <a:fillRect/>
          </a:stretch>
        </p:blipFill>
        <p:spPr>
          <a:xfrm>
            <a:off x="7022101" y="3154281"/>
            <a:ext cx="5018791" cy="1474208"/>
          </a:xfrm>
          <a:prstGeom prst="round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7A428A-E32B-AC35-B7BC-3377240FD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75" y="1274765"/>
            <a:ext cx="4670646" cy="202192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BEB970-A6C1-481D-2432-1B18177B88F6}"/>
              </a:ext>
            </a:extLst>
          </p:cNvPr>
          <p:cNvCxnSpPr>
            <a:cxnSpLocks/>
          </p:cNvCxnSpPr>
          <p:nvPr/>
        </p:nvCxnSpPr>
        <p:spPr>
          <a:xfrm>
            <a:off x="4892121" y="1274765"/>
            <a:ext cx="3540679" cy="1062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9C8AFF-8736-8A22-F936-CC063E2BFEA9}"/>
              </a:ext>
            </a:extLst>
          </p:cNvPr>
          <p:cNvCxnSpPr>
            <a:cxnSpLocks/>
          </p:cNvCxnSpPr>
          <p:nvPr/>
        </p:nvCxnSpPr>
        <p:spPr>
          <a:xfrm flipV="1">
            <a:off x="4868893" y="2722778"/>
            <a:ext cx="3563907" cy="5229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67" y="276440"/>
            <a:ext cx="10719199" cy="1103086"/>
          </a:xfrm>
        </p:spPr>
        <p:txBody>
          <a:bodyPr/>
          <a:lstStyle/>
          <a:p>
            <a:r>
              <a:rPr lang="en-US" sz="4400" dirty="0"/>
              <a:t>Pagination and Data Retrieval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574" y="1558182"/>
            <a:ext cx="7853678" cy="726645"/>
          </a:xfrm>
        </p:spPr>
        <p:txBody>
          <a:bodyPr/>
          <a:lstStyle/>
          <a:p>
            <a:r>
              <a:rPr lang="en-US" dirty="0"/>
              <a:t>To support scalability and large datasets, pagination was implemented using Spring Data JPA.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>
          <a:xfrm>
            <a:off x="10473438" y="3629"/>
            <a:ext cx="1666382" cy="1666385"/>
          </a:xfrm>
        </p:spPr>
      </p:pic>
      <p:pic>
        <p:nvPicPr>
          <p:cNvPr id="11266" name="Picture 2" descr="‪What It Is Pagination and How to Implement It Properly Using 4 Ways‬‏">
            <a:extLst>
              <a:ext uri="{FF2B5EF4-FFF2-40B4-BE49-F238E27FC236}">
                <a16:creationId xmlns:a16="http://schemas.microsoft.com/office/drawing/2014/main" id="{1E1A27CE-A926-EBD6-C105-41A161519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7" t="3867" r="20050" b="10968"/>
          <a:stretch>
            <a:fillRect/>
          </a:stretch>
        </p:blipFill>
        <p:spPr bwMode="auto">
          <a:xfrm>
            <a:off x="10549825" y="261257"/>
            <a:ext cx="1513608" cy="1103086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B781CC-62C4-FEF8-D5E5-3F5AB915AF2F}"/>
              </a:ext>
            </a:extLst>
          </p:cNvPr>
          <p:cNvSpPr txBox="1"/>
          <p:nvPr/>
        </p:nvSpPr>
        <p:spPr>
          <a:xfrm>
            <a:off x="8461426" y="20053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endpoint allows:</a:t>
            </a:r>
          </a:p>
          <a:p>
            <a:pPr marL="342900" marR="0" lvl="0" indent="-342900" algn="just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Controlled data retrieval</a:t>
            </a:r>
          </a:p>
          <a:p>
            <a:pPr marL="342900" marR="0" lvl="0" indent="-342900" algn="just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Sorted results by deal timestamp</a:t>
            </a:r>
          </a:p>
          <a:p>
            <a:pPr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Reduced memory usage for large tables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8A8F3-DFDD-8D87-9C92-D9BC47E8EA5C}"/>
              </a:ext>
            </a:extLst>
          </p:cNvPr>
          <p:cNvSpPr txBox="1"/>
          <p:nvPr/>
        </p:nvSpPr>
        <p:spPr>
          <a:xfrm>
            <a:off x="804306" y="2321262"/>
            <a:ext cx="7683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 http://localhost:8080/api/v1/fx-deals/paged?page=0&amp;size=10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B4826F-029D-CB62-E88E-DB90C5780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55" y="2819922"/>
            <a:ext cx="5075611" cy="3804953"/>
          </a:xfrm>
          <a:prstGeom prst="roundRect">
            <a:avLst/>
          </a:prstGeom>
        </p:spPr>
      </p:pic>
      <p:pic>
        <p:nvPicPr>
          <p:cNvPr id="18" name="Picture 17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B2F03F25-5DE6-D32D-ED0B-FB98A84DFF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9853" y="3428274"/>
            <a:ext cx="6592147" cy="290153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9D36-FE7B-27E5-F128-E6CDA786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4F5D-3B01-8C9D-CE92-B0F712E58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3331" y="-482608"/>
            <a:ext cx="10588569" cy="1867825"/>
          </a:xfrm>
        </p:spPr>
        <p:txBody>
          <a:bodyPr/>
          <a:lstStyle/>
          <a:p>
            <a:r>
              <a:rPr lang="en-US" sz="4400" dirty="0"/>
              <a:t>Verify Imported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682A88-99FA-A48C-05FD-6B614AD68A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2543643"/>
            <a:ext cx="5359400" cy="500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i="1" dirty="0">
                <a:solidFill>
                  <a:schemeClr val="tx1"/>
                </a:solidFill>
              </a:rPr>
              <a:t>GET</a:t>
            </a:r>
            <a:r>
              <a:rPr lang="en-US" sz="1800" b="1" i="1" dirty="0">
                <a:solidFill>
                  <a:schemeClr val="tx1"/>
                </a:solidFill>
              </a:rPr>
              <a:t> /</a:t>
            </a:r>
            <a:r>
              <a:rPr lang="en-US" sz="1800" b="1" i="1" dirty="0" err="1">
                <a:solidFill>
                  <a:schemeClr val="tx1"/>
                </a:solidFill>
              </a:rPr>
              <a:t>fx</a:t>
            </a:r>
            <a:r>
              <a:rPr lang="en-US" sz="1800" b="1" i="1" dirty="0">
                <a:solidFill>
                  <a:schemeClr val="tx1"/>
                </a:solidFill>
              </a:rPr>
              <a:t>-deals response after .CSV upload</a:t>
            </a:r>
            <a:endParaRPr lang="en-US" altLang="en-US" sz="1800" b="1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2E52AB-9A63-F3A9-98FD-24730FDD0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01" y="1647049"/>
            <a:ext cx="7412595" cy="37631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E2BE01-5CFE-EB6E-B0BE-AE96745B2397}"/>
              </a:ext>
            </a:extLst>
          </p:cNvPr>
          <p:cNvSpPr txBox="1"/>
          <p:nvPr/>
        </p:nvSpPr>
        <p:spPr>
          <a:xfrm>
            <a:off x="1257300" y="3481080"/>
            <a:ext cx="370840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persisted successfully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API output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validation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2D20F-36A6-4F7C-3AD2-473F228131A3}"/>
              </a:ext>
            </a:extLst>
          </p:cNvPr>
          <p:cNvSpPr txBox="1"/>
          <p:nvPr/>
        </p:nvSpPr>
        <p:spPr>
          <a:xfrm>
            <a:off x="1893350" y="2919720"/>
            <a:ext cx="1764249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62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349" y="3836161"/>
            <a:ext cx="5530851" cy="2823979"/>
          </a:xfrm>
        </p:spPr>
        <p:txBody>
          <a:bodyPr>
            <a:normAutofit fontScale="85000" lnSpcReduction="2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Docker Desktop showing running container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Terminal logs inside container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Application containerized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Easy deployment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Environment consistency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3FEE0-E7AC-0349-9030-FDF0FC63C5F2}"/>
              </a:ext>
            </a:extLst>
          </p:cNvPr>
          <p:cNvSpPr txBox="1"/>
          <p:nvPr/>
        </p:nvSpPr>
        <p:spPr>
          <a:xfrm>
            <a:off x="1219200" y="210560"/>
            <a:ext cx="299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Docker Deployment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7F748C-D2D3-AC32-C54C-7BEEB2794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2" y="210560"/>
            <a:ext cx="8026399" cy="32184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DD3CFA6-9389-6364-7428-BC4CFEC9C4EA}"/>
              </a:ext>
            </a:extLst>
          </p:cNvPr>
          <p:cNvSpPr/>
          <p:nvPr/>
        </p:nvSpPr>
        <p:spPr>
          <a:xfrm>
            <a:off x="5245099" y="2362200"/>
            <a:ext cx="6400801" cy="3556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1D589C7-F101-F007-7150-09226785E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634" y="3633662"/>
            <a:ext cx="6164017" cy="288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974" y="0"/>
            <a:ext cx="9137012" cy="1280160"/>
          </a:xfrm>
        </p:spPr>
        <p:txBody>
          <a:bodyPr/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b="1" dirty="0"/>
              <a:t>Challenge 1: Entity Exposure Risk</a:t>
            </a:r>
            <a:endParaRPr lang="en-US" dirty="0"/>
          </a:p>
          <a:p>
            <a:r>
              <a:rPr lang="en-US" dirty="0"/>
              <a:t>Initially, the database entity was used directly in API requests and responses.</a:t>
            </a:r>
          </a:p>
          <a:p>
            <a:r>
              <a:rPr lang="en-US" b="1" dirty="0"/>
              <a:t>Solution:</a:t>
            </a:r>
            <a:endParaRPr lang="en-US" dirty="0"/>
          </a:p>
          <a:p>
            <a:r>
              <a:rPr lang="en-US" dirty="0"/>
              <a:t>Introduced DTOs </a:t>
            </a:r>
            <a:r>
              <a:rPr lang="en-US" i="1" dirty="0"/>
              <a:t>(</a:t>
            </a:r>
            <a:r>
              <a:rPr lang="en-US" i="1" dirty="0" err="1"/>
              <a:t>FxDealRequestDTO</a:t>
            </a:r>
            <a:r>
              <a:rPr lang="en-US" i="1" dirty="0"/>
              <a:t>, </a:t>
            </a:r>
            <a:r>
              <a:rPr lang="en-US" i="1" dirty="0" err="1"/>
              <a:t>FxDealResponseDTO</a:t>
            </a:r>
            <a:r>
              <a:rPr lang="en-US" i="1" dirty="0"/>
              <a:t>)</a:t>
            </a:r>
          </a:p>
          <a:p>
            <a:r>
              <a:rPr lang="en-US" dirty="0"/>
              <a:t>Ensured clean separation between API layer and persistence layer.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b="1" dirty="0"/>
              <a:t>Challenge 2: CSV Parsing and Data Consistency</a:t>
            </a:r>
            <a:endParaRPr lang="en-US" dirty="0"/>
          </a:p>
          <a:p>
            <a:r>
              <a:rPr lang="en-US" dirty="0"/>
              <a:t>Importing bulk FX deals from CSV required careful column mapping and type conversion.</a:t>
            </a:r>
          </a:p>
          <a:p>
            <a:r>
              <a:rPr lang="en-US" b="1" dirty="0"/>
              <a:t>Solution:</a:t>
            </a:r>
            <a:endParaRPr lang="en-US" dirty="0"/>
          </a:p>
          <a:p>
            <a:r>
              <a:rPr lang="en-US" dirty="0"/>
              <a:t>Used Apache Commons CSV library</a:t>
            </a:r>
          </a:p>
          <a:p>
            <a:r>
              <a:rPr lang="en-US" dirty="0"/>
              <a:t>Implemented header-based parsing to ensure correct column mapping.</a:t>
            </a:r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78560" y="674914"/>
            <a:ext cx="4663440" cy="1190033"/>
          </a:xfrm>
        </p:spPr>
        <p:txBody>
          <a:bodyPr/>
          <a:lstStyle/>
          <a:p>
            <a:r>
              <a:rPr lang="en-US" b="1" dirty="0"/>
              <a:t>Challenge 3: Validation Placement</a:t>
            </a:r>
            <a:endParaRPr lang="en-US" dirty="0"/>
          </a:p>
          <a:p>
            <a:r>
              <a:rPr lang="en-US" dirty="0"/>
              <a:t>Applying strict validation during CSV import could block bulk data ingestion.</a:t>
            </a:r>
          </a:p>
          <a:p>
            <a:r>
              <a:rPr lang="en-US" b="1" dirty="0"/>
              <a:t>Solution:</a:t>
            </a:r>
            <a:endParaRPr lang="en-US" dirty="0"/>
          </a:p>
          <a:p>
            <a:r>
              <a:rPr lang="en-US" dirty="0"/>
              <a:t>Enforced validation rules for REST API requests</a:t>
            </a:r>
          </a:p>
          <a:p>
            <a:r>
              <a:rPr lang="en-US" dirty="0"/>
              <a:t>Allowed CSV import to prioritize throughput while avoiding duplicate deal IDs.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E19491-7637-F7D0-231D-6DCF6D627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98" t="65917" r="26562" b="974"/>
          <a:stretch>
            <a:fillRect/>
          </a:stretch>
        </p:blipFill>
        <p:spPr>
          <a:xfrm>
            <a:off x="6572051" y="3154280"/>
            <a:ext cx="5468842" cy="1606405"/>
          </a:xfrm>
          <a:prstGeom prst="round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DF247C-1DD7-E4B9-F29B-FE7F8CB4A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076" y="1103232"/>
            <a:ext cx="5650841" cy="1828654"/>
          </a:xfrm>
          <a:prstGeom prst="round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ECC981-A12F-A1B6-5966-98074DB17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33" y="3788446"/>
            <a:ext cx="5986256" cy="268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2B25C95-C171-B349-E75C-1F39F0A7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26"/>
          <a:stretch>
            <a:fillRect/>
          </a:stretch>
        </p:blipFill>
        <p:spPr>
          <a:xfrm>
            <a:off x="6487886" y="338035"/>
            <a:ext cx="5602513" cy="4015024"/>
          </a:xfrm>
          <a:prstGeom prst="rect">
            <a:avLst/>
          </a:prstGeom>
        </p:spPr>
      </p:pic>
      <p:pic>
        <p:nvPicPr>
          <p:cNvPr id="16" name="Picture 1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46B822E-3936-89B7-8DF6-E0F09DEE70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67"/>
          <a:stretch>
            <a:fillRect/>
          </a:stretch>
        </p:blipFill>
        <p:spPr>
          <a:xfrm>
            <a:off x="101601" y="931244"/>
            <a:ext cx="6154056" cy="31690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01C53C-AF58-0E9E-64AF-76017E6549D0}"/>
              </a:ext>
            </a:extLst>
          </p:cNvPr>
          <p:cNvSpPr txBox="1"/>
          <p:nvPr/>
        </p:nvSpPr>
        <p:spPr>
          <a:xfrm>
            <a:off x="754743" y="4639224"/>
            <a:ext cx="609600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DTO vs Entity separation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parsing issues resolved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placement decisions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34DD8-BCA0-0C9F-8509-A5C7BF0DFFC3}"/>
              </a:ext>
            </a:extLst>
          </p:cNvPr>
          <p:cNvSpPr txBox="1"/>
          <p:nvPr/>
        </p:nvSpPr>
        <p:spPr>
          <a:xfrm>
            <a:off x="6720113" y="4772593"/>
            <a:ext cx="51235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Code snippet screenshots (DTO mapping, CSV import)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5D5396-69E2-DED3-748E-9DFE4CCDD87F}"/>
              </a:ext>
            </a:extLst>
          </p:cNvPr>
          <p:cNvSpPr/>
          <p:nvPr/>
        </p:nvSpPr>
        <p:spPr>
          <a:xfrm>
            <a:off x="101601" y="508000"/>
            <a:ext cx="6255656" cy="359228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B8245B-90F5-42D5-BB2F-B23140DB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78" y="23092"/>
            <a:ext cx="4815836" cy="1130663"/>
          </a:xfrm>
        </p:spPr>
        <p:txBody>
          <a:bodyPr/>
          <a:lstStyle/>
          <a:p>
            <a:r>
              <a:rPr lang="en-US" dirty="0"/>
              <a:t>Final Results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864713-1B6F-2D98-F1AA-F3A50371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740"/>
          <a:stretch>
            <a:fillRect/>
          </a:stretch>
        </p:blipFill>
        <p:spPr>
          <a:xfrm>
            <a:off x="883910" y="1859273"/>
            <a:ext cx="4512494" cy="4689825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04E5B78-1422-11BB-D455-3A1C253A42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287"/>
          <a:stretch>
            <a:fillRect/>
          </a:stretch>
        </p:blipFill>
        <p:spPr>
          <a:xfrm>
            <a:off x="6804090" y="1153755"/>
            <a:ext cx="4963230" cy="2507363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167FF97-5DBB-BDA9-034B-25B2B135F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530" y="148868"/>
            <a:ext cx="3901104" cy="10005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Multiple successful API calls:</a:t>
            </a:r>
          </a:p>
        </p:txBody>
      </p:sp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9CEAAFB-8F51-C1BB-53B5-EAB0BB8BE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921" y="3661118"/>
            <a:ext cx="6286500" cy="3076575"/>
          </a:xfrm>
          <a:prstGeom prst="rect">
            <a:avLst/>
          </a:prstGeom>
        </p:spPr>
      </p:pic>
      <p:pic>
        <p:nvPicPr>
          <p:cNvPr id="18" name="Picture 1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CBA0202-6178-6D40-C8DC-4040FD895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8735" y="-58057"/>
            <a:ext cx="2913265" cy="7837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F63F100-2FE0-B067-EC7B-914708617C15}"/>
              </a:ext>
            </a:extLst>
          </p:cNvPr>
          <p:cNvSpPr txBox="1"/>
          <p:nvPr/>
        </p:nvSpPr>
        <p:spPr>
          <a:xfrm>
            <a:off x="3030375" y="932138"/>
            <a:ext cx="37737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working backend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Assignment requirements met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Production-ready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8327057" y="31037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8063" y="3255264"/>
            <a:ext cx="6117381" cy="301752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Eng. Tareq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Mobile: 0786415882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University of Jordan graduate 2026!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tareq19000009gmail.com</a:t>
            </a:r>
            <a:endParaRPr lang="ar-JO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Alternative: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tareqshawabkehwork@gmail.com</a:t>
            </a:r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{DFCE4F0C-B630-49AE-A445-5385C2E493EC}372c19de-dfd4-4de7-9293-53c5fa2d1f7c-TF54b766f8-63ee-43b7-9d15-113a5f305028b8e3081f_win32</Template>
  <TotalTime>832</TotalTime>
  <Words>521</Words>
  <Application>Microsoft Office PowerPoint</Application>
  <PresentationFormat>Widescreen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Aharoni</vt:lpstr>
      <vt:lpstr>Amasis MT Pro Medium</vt:lpstr>
      <vt:lpstr>Arial</vt:lpstr>
      <vt:lpstr>Arial Unicode MS</vt:lpstr>
      <vt:lpstr>Calibri</vt:lpstr>
      <vt:lpstr>Symbol</vt:lpstr>
      <vt:lpstr>Times New Roman</vt:lpstr>
      <vt:lpstr>Univers</vt:lpstr>
      <vt:lpstr>Wingdings</vt:lpstr>
      <vt:lpstr>GradientVTI</vt:lpstr>
      <vt:lpstr>FX Deals Importer Using Spring Boot </vt:lpstr>
      <vt:lpstr>PowerPoint Presentation</vt:lpstr>
      <vt:lpstr>PowerPoint Presentation</vt:lpstr>
      <vt:lpstr>PowerPoint Presentation</vt:lpstr>
      <vt:lpstr>REST API Endpoints</vt:lpstr>
      <vt:lpstr>Create FX Deal (POST) POSTMaN </vt:lpstr>
      <vt:lpstr>POSTMaN error response (409 Conflict)</vt:lpstr>
      <vt:lpstr>POSTMaN error response (409 Conflict)</vt:lpstr>
      <vt:lpstr>.CSV Upload Feature </vt:lpstr>
      <vt:lpstr>Pagination and Data Retrieval</vt:lpstr>
      <vt:lpstr>Verify Imported Data</vt:lpstr>
      <vt:lpstr>PowerPoint Presentation</vt:lpstr>
      <vt:lpstr>Challenges &amp; Solutions</vt:lpstr>
      <vt:lpstr>PowerPoint Presentation</vt:lpstr>
      <vt:lpstr>PowerPoint Presentation</vt:lpstr>
      <vt:lpstr>Final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Tariq mansour abdallah shawabkeh</dc:creator>
  <cp:lastModifiedBy>Tariq mansour abdallah shawabkeh</cp:lastModifiedBy>
  <cp:revision>6</cp:revision>
  <dcterms:created xsi:type="dcterms:W3CDTF">2026-01-02T09:36:01Z</dcterms:created>
  <dcterms:modified xsi:type="dcterms:W3CDTF">2026-01-02T23:28:16Z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